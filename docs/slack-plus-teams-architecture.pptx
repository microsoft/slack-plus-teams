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1054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2404872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Channels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4718304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</a:t>
            </a:r>
            <a:endParaRPr lang="en-US" sz="1750" dirty="0"/>
          </a:p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031736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345168" y="768096"/>
            <a:ext cx="2084832" cy="749808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768096" y="2029968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to Teams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Architecture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86384" y="32735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D6D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Themed architecture diagrams based on the migration guide, using the same visual language as the provided reference image.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991856" y="1920240"/>
            <a:ext cx="3456432" cy="2871216"/>
          </a:xfrm>
          <a:prstGeom prst="roundRect">
            <a:avLst>
              <a:gd name="adj" fmla="val 1274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diagrams
</a:t>
            </a: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Migration strategy comparison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Dual-platform adapter pattern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Runtime message flow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UI translation pattern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Identity and auth mapping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and transport</a:t>
            </a:r>
            <a:endParaRPr lang="en-US" sz="150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Deployment topology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8096" y="4919472"/>
            <a:ext cx="10680192" cy="713232"/>
          </a:xfrm>
          <a:prstGeom prst="roundRect">
            <a:avLst>
              <a:gd name="adj" fmla="val 5128"/>
            </a:avLst>
          </a:prstGeom>
          <a:solidFill>
            <a:srgbClr val="E3E3E3"/>
          </a:solidFill>
          <a:ln>
            <a:solidFill>
              <a:srgbClr val="E3E3E3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6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theme
</a:t>
            </a:r>
            <a:r>
              <a:rPr lang="en-US" sz="121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indigo tabs, circular badges, light gray cards, and blue connector lines keep the diagrams consistent with the existing slide motif.</a:t>
            </a:r>
            <a:endParaRPr lang="en-US" sz="1260" dirty="0"/>
          </a:p>
        </p:txBody>
      </p:sp>
      <p:sp>
        <p:nvSpPr>
          <p:cNvPr id="21" name="Text 19"/>
          <p:cNvSpPr/>
          <p:nvPr/>
        </p:nvSpPr>
        <p:spPr>
          <a:xfrm>
            <a:off x="219456" y="6455664"/>
            <a:ext cx="6035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to Teams migration guide • architecture diagram 1 of 7</a:t>
            </a:r>
            <a:endParaRPr lang="en-US" sz="950" dirty="0"/>
          </a:p>
        </p:txBody>
      </p:sp>
      <p:sp>
        <p:nvSpPr>
          <p:cNvPr id="2" name="Text 0"/>
          <p:cNvSpPr/>
          <p:nvPr/>
        </p:nvSpPr>
        <p:spPr>
          <a:xfrm>
            <a:off x="1517109" y="481848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◧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0" y="487017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⚙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143973" y="487017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457405" y="487017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770837" y="490993"/>
            <a:ext cx="585216" cy="585216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4B4A7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" y="411480"/>
            <a:ext cx="2743200" cy="7132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84448" y="411479"/>
            <a:ext cx="8046720" cy="713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D6D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migration operating models and highlight the recommended approach.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453896"/>
            <a:ext cx="2743200" cy="9418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Dual-platform</a:t>
            </a:r>
          </a:p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(recommended)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2743200" cy="1280160"/>
          </a:xfrm>
          <a:prstGeom prst="roundRect">
            <a:avLst>
              <a:gd name="adj" fmla="val 2857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E7EFFB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
</a:t>
            </a:r>
            <a:r>
              <a:rPr lang="en-US" sz="119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and Teams share one service layer and one roadmap.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059936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
</a:t>
            </a:r>
            <a:r>
              <a:rPr lang="en-US" sz="116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for phased rollout and least disruption.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133088" y="1453896"/>
            <a:ext cx="2743200" cy="9418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migration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133088" y="2578608"/>
            <a:ext cx="2743200" cy="1280160"/>
          </a:xfrm>
          <a:prstGeom prst="roundRect">
            <a:avLst>
              <a:gd name="adj" fmla="val 2857"/>
            </a:avLst>
          </a:prstGeom>
          <a:solidFill>
            <a:srgbClr val="DDDDDD"/>
          </a:solidFill>
          <a:ln>
            <a:solidFill>
              <a:srgbClr val="DDDDDD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
</a:t>
            </a:r>
            <a:r>
              <a:rPr lang="en-US" sz="119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is retired and the app is rebuilt as Teams-only.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133088" y="4059936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91440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
</a:t>
            </a:r>
            <a:r>
              <a:rPr lang="en-US" sz="116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Simple long-term state but highest cutover risk.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26096" y="1453896"/>
            <a:ext cx="2743200" cy="941832"/>
          </a:xfrm>
          <a:prstGeom prst="rect">
            <a:avLst/>
          </a:prstGeom>
          <a:solidFill>
            <a:srgbClr val="4B4A78"/>
          </a:solidFill>
          <a:ln>
            <a:solidFill>
              <a:srgbClr val="4B4A7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operation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26096" y="2578608"/>
            <a:ext cx="2743200" cy="1280160"/>
          </a:xfrm>
          <a:prstGeom prst="roundRect">
            <a:avLst>
              <a:gd name="adj" fmla="val 2857"/>
            </a:avLst>
          </a:prstGeom>
          <a:solidFill>
            <a:srgbClr val="DDDDDD"/>
          </a:solidFill>
          <a:ln>
            <a:solidFill>
              <a:srgbClr val="DDDDDD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
</a:t>
            </a:r>
            <a:r>
              <a:rPr lang="en-US" sz="119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bots run separately while the backend is shared.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626096" y="4059936"/>
            <a:ext cx="2743200" cy="1170432"/>
          </a:xfrm>
          <a:prstGeom prst="roundRect">
            <a:avLst>
              <a:gd name="adj" fmla="val 3125"/>
            </a:avLst>
          </a:prstGeom>
          <a:solidFill>
            <a:srgbClr val="E6E6E6"/>
          </a:solidFill>
          <a:ln>
            <a:solidFill>
              <a:srgbClr val="E6E6E6"/>
            </a:solidFill>
          </a:ln>
        </p:spPr>
        <p:txBody>
          <a:bodyPr wrap="square" lIns="91440" tIns="1524" rIns="91440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4B4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Trade-offs
</a:t>
            </a:r>
            <a:r>
              <a:rPr lang="en-US" sz="1160" dirty="0">
                <a:solidFill>
                  <a:srgbClr val="5050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operationally, but some duplication remains.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83280" y="3227832"/>
            <a:ext cx="749808" cy="0"/>
          </a:xfrm>
          <a:prstGeom prst="line">
            <a:avLst/>
          </a:prstGeom>
          <a:noFill/>
          <a:ln w="12700">
            <a:solidFill>
              <a:srgbClr val="8786A3">
                <a:alpha val="100000"/>
              </a:srgbClr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76288" y="3218688"/>
            <a:ext cx="749808" cy="9144"/>
          </a:xfrm>
          <a:prstGeom prst="line">
            <a:avLst/>
          </a:prstGeom>
          <a:noFill/>
          <a:ln w="12700">
            <a:solidFill>
              <a:srgbClr val="8786A3">
                <a:alpha val="100000"/>
              </a:srgbClr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19456" y="6455664"/>
            <a:ext cx="6035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7A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Slack to Teams migration guide • architecture diagram 2 of 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78186" y="1193689"/>
            <a:ext cx="530352" cy="53035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850" dirty="0">
                <a:solidFill>
                  <a:srgbClr val="4B4A78"/>
                </a:solidFill>
                <a:latin typeface="Segoe UI Symbol"/>
                <a:ea typeface="Segoe UI Symbol"/>
                <a:cs typeface="Segoe UI Symbol" pitchFamily="34" charset="-120"/>
              </a:rPr>
              <a:t>➜</a:t>
            </a:r>
            <a:endParaRPr lang="en-US" sz="1850" dirty="0">
              <a:solidFill>
                <a:srgbClr val="4B4A78"/>
              </a:solidFill>
              <a:latin typeface="Segoe UI Symbol"/>
              <a:ea typeface="Segoe UI Symbol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764202" y="1193689"/>
            <a:ext cx="530352" cy="530352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850" dirty="0">
                <a:solidFill>
                  <a:srgbClr val="4B4A78"/>
                </a:solidFill>
                <a:latin typeface="Segoe UI Symbol"/>
                <a:ea typeface="Segoe UI Symbol"/>
                <a:cs typeface="Segoe UI Symbol" pitchFamily="34" charset="-120"/>
              </a:rPr>
              <a:t>➜</a:t>
            </a:r>
            <a:endParaRPr lang="en-US" sz="1850" dirty="0">
              <a:solidFill>
                <a:srgbClr val="4B4A78"/>
              </a:solidFill>
              <a:latin typeface="Segoe UI Symbol"/>
              <a:ea typeface="Segoe UI Symbol"/>
            </a:endParaRPr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8EBF2C0D-C735-1B33-EFCA-CF548F5869E6}"/>
              </a:ext>
            </a:extLst>
          </p:cNvPr>
          <p:cNvSpPr/>
          <p:nvPr/>
        </p:nvSpPr>
        <p:spPr>
          <a:xfrm>
            <a:off x="6281133" y="1193689"/>
            <a:ext cx="530352" cy="530352"/>
          </a:xfrm>
          <a:prstGeom prst="ellipse">
            <a:avLst/>
          </a:prstGeom>
          <a:solidFill>
            <a:srgbClr val="F4F4F4"/>
          </a:solidFill>
          <a:ln>
            <a:solidFill>
              <a:srgbClr val="CBCBCB"/>
            </a:solidFill>
          </a:ln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850">
                <a:solidFill>
                  <a:srgbClr val="4B4A78"/>
                </a:solidFill>
                <a:latin typeface="Segoe UI Symbol"/>
                <a:ea typeface="Segoe UI Symbol"/>
                <a:cs typeface="Segoe UI Symbol" pitchFamily="34" charset="-120"/>
              </a:rPr>
              <a:t>➜</a:t>
            </a:r>
            <a:endParaRPr lang="en-US" sz="1850">
              <a:solidFill>
                <a:srgbClr val="4B4A78"/>
              </a:solidFill>
              <a:latin typeface="Segoe UI Symbol"/>
              <a:ea typeface="Segoe UI Symbo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411480"/>
            <a:ext cx="4500000" cy="713232"/>
          </a:xfrm>
          <a:prstGeom prst="rect">
            <a:avLst/>
          </a:prstGeom>
          <a:solidFill>
            <a:srgbClr val="4B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Prioritization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0000" y="411480"/>
            <a:ext cx="700000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50" b="0" dirty="0">
                <a:solidFill>
                  <a:srgbClr val="6D6D6D"/>
                </a:solidFill>
              </a:rPr>
              <a:t>Plot LOB apps by business impact and migration complexity to sequence your rollout.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00000" y="1500000"/>
            <a:ext cx="3760000" cy="20600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40000" y="1500000"/>
            <a:ext cx="3760000" cy="206000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200000" y="3640000"/>
            <a:ext cx="3760000" cy="2060000"/>
          </a:xfrm>
          <a:prstGeom prst="roundRect">
            <a:avLst>
              <a:gd name="adj" fmla="val 5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40000" y="3640000"/>
            <a:ext cx="3760000" cy="2060000"/>
          </a:xfrm>
          <a:prstGeom prst="roundRect">
            <a:avLst>
              <a:gd name="adj" fmla="val 5000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280000" y="1560000"/>
            <a:ext cx="1800000" cy="28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1">
                <a:solidFill>
                  <a:srgbClr val="2E7D32"/>
                </a:solidFill>
              </a:rPr>
              <a:t>Migrate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560000"/>
            <a:ext cx="1800000" cy="28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1">
                <a:solidFill>
                  <a:srgbClr val="EF6C00"/>
                </a:solidFill>
              </a:rPr>
              <a:t>Plan Carefully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0000" y="3700000"/>
            <a:ext cx="1800000" cy="28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1">
                <a:solidFill>
                  <a:srgbClr val="757575"/>
                </a:solidFill>
              </a:rPr>
              <a:t>Quick Wins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0000" y="3700000"/>
            <a:ext cx="1800000" cy="28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1">
                <a:solidFill>
                  <a:srgbClr val="C62828"/>
                </a:solidFill>
              </a:rPr>
              <a:t>Deprioritize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0000" y="1929895"/>
            <a:ext cx="1700000" cy="560000"/>
          </a:xfrm>
          <a:prstGeom prst="roundRect">
            <a:avLst>
              <a:gd name="adj" fmla="val 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0" tIns="32000" rIns="64000" bIns="320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IT Helpdesk Bot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Q&amp;A, ticket creation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0000" y="2602189"/>
            <a:ext cx="1700000" cy="560000"/>
          </a:xfrm>
          <a:prstGeom prst="roundRect">
            <a:avLst>
              <a:gd name="adj" fmla="val 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0" tIns="32000" rIns="64000" bIns="320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Sales Dashboard Bot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CRM lookups, daily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70000" y="2250000"/>
            <a:ext cx="1700000" cy="560000"/>
          </a:xfrm>
          <a:prstGeom prst="roundRect">
            <a:avLst>
              <a:gd name="adj" fmla="val 5000"/>
            </a:avLst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0" tIns="32000" rIns="64000" bIns="320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HR Onboarding Suite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Workflows, forms, approvals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0000" y="4390000"/>
            <a:ext cx="1700000" cy="560000"/>
          </a:xfrm>
          <a:prstGeom prst="roundRect">
            <a:avLst>
              <a:gd name="adj" fmla="val 5000"/>
            </a:avLst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0" tIns="32000" rIns="64000" bIns="320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Standup Reminder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Scheduled messages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70000" y="4390000"/>
            <a:ext cx="1700000" cy="560000"/>
          </a:xfrm>
          <a:prstGeom prst="roundRect">
            <a:avLst>
              <a:gd name="adj" fmla="val 5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0" tIns="32000" rIns="64000" bIns="3200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Legacy Build Monitor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Custom integrations, webhooks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0000" y="2000000"/>
            <a:ext cx="1400000" cy="3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4B4A78"/>
                </a:solidFill>
              </a:rPr>
              <a:t>High Impact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00" y="4140000"/>
            <a:ext cx="1400000" cy="3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4B4A78"/>
                </a:solidFill>
              </a:rPr>
              <a:t>Low Impact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0000" y="5780000"/>
            <a:ext cx="20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4B4A78"/>
                </a:solidFill>
              </a:rPr>
              <a:t>Low Complexity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0000" y="5780000"/>
            <a:ext cx="200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4B4A78"/>
                </a:solidFill>
              </a:rPr>
              <a:t>High Complexity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" y="2530000"/>
            <a:ext cx="1200000" cy="3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B4A78"/>
                </a:solidFill>
              </a:rPr>
              <a:t>Business Impact 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000" y="6040000"/>
            <a:ext cx="1800000" cy="25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4B4A78"/>
                </a:solidFill>
              </a:rPr>
              <a:t>Migration Complexity 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9456" y="6455664"/>
            <a:ext cx="6035040" cy="1280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7A7A7A"/>
                </a:solidFill>
              </a:rPr>
              <a:t>Slack to Teams migration guide • architecture diagram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411480"/>
            <a:ext cx="4500000" cy="713232"/>
          </a:xfrm>
          <a:prstGeom prst="rect">
            <a:avLst/>
          </a:prstGeom>
          <a:solidFill>
            <a:srgbClr val="4B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Adapter Pattern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0000" y="411480"/>
            <a:ext cx="720000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50" b="0" dirty="0">
                <a:solidFill>
                  <a:srgbClr val="6D6D6D"/>
                </a:solidFill>
              </a:rPr>
              <a:t>Inbound calls from each platform converge on a shared service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96000" y="2700000"/>
            <a:ext cx="2600000" cy="2000000"/>
          </a:xfrm>
          <a:prstGeom prst="roundRect">
            <a:avLst>
              <a:gd name="adj" fmla="val 4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000" bIns="36000" rtlCol="0" anchor="ctr"/>
          <a:lstStyle/>
          <a:p>
            <a:pPr algn="ctr"/>
            <a:r>
              <a:rPr sz="1300" b="1">
                <a:solidFill>
                  <a:srgbClr val="2E7D32"/>
                </a:solidFill>
              </a:rPr>
              <a:t>Shared Service Layer</a:t>
            </a:r>
          </a:p>
          <a:p>
            <a:pPr algn="ctr"/>
            <a:r>
              <a:rPr sz="950" b="0">
                <a:solidFill>
                  <a:srgbClr val="2E7D32"/>
                </a:solidFill>
              </a:rPr>
              <a:t>Business logic</a:t>
            </a:r>
          </a:p>
          <a:p>
            <a:pPr algn="ctr"/>
            <a:r>
              <a:rPr sz="950" b="0">
                <a:solidFill>
                  <a:srgbClr val="2E7D32"/>
                </a:solidFill>
              </a:rPr>
              <a:t>AI / LLM calls</a:t>
            </a:r>
          </a:p>
          <a:p>
            <a:pPr algn="ctr"/>
            <a:r>
              <a:rPr sz="950" b="0">
                <a:solidFill>
                  <a:srgbClr val="2E7D32"/>
                </a:solidFill>
              </a:rPr>
              <a:t>Data access</a:t>
            </a:r>
          </a:p>
          <a:p>
            <a:pPr algn="ctr"/>
            <a:r>
              <a:rPr sz="950" b="0">
                <a:solidFill>
                  <a:srgbClr val="2E7D32"/>
                </a:solidFill>
              </a:rPr>
              <a:t>Common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96000" y="3000000"/>
            <a:ext cx="1800000" cy="1400000"/>
          </a:xfrm>
          <a:prstGeom prst="roundRect">
            <a:avLst>
              <a:gd name="adj" fmla="val 4000"/>
            </a:avLst>
          </a:prstGeom>
          <a:solidFill>
            <a:srgbClr val="E8E8F0"/>
          </a:solidFill>
          <a:ln w="19050">
            <a:solidFill>
              <a:srgbClr val="4B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000" bIns="36000" rtlCol="0" anchor="ctr"/>
          <a:lstStyle/>
          <a:p>
            <a:pPr algn="ctr"/>
            <a:r>
              <a:rPr sz="1300" b="1">
                <a:solidFill>
                  <a:srgbClr val="4B4A78"/>
                </a:solidFill>
              </a:rPr>
              <a:t>Slack Adapter</a:t>
            </a:r>
          </a:p>
          <a:p>
            <a:pPr algn="ctr"/>
            <a:r>
              <a:rPr sz="950" b="0">
                <a:solidFill>
                  <a:srgbClr val="4B4A78"/>
                </a:solidFill>
              </a:rPr>
              <a:t>@slack/bolt</a:t>
            </a:r>
          </a:p>
          <a:p>
            <a:pPr algn="ctr"/>
            <a:r>
              <a:rPr sz="950" b="0">
                <a:solidFill>
                  <a:srgbClr val="4B4A78"/>
                </a:solidFill>
              </a:rPr>
              <a:t>Event handlers</a:t>
            </a:r>
          </a:p>
          <a:p>
            <a:pPr algn="ctr"/>
            <a:r>
              <a:rPr sz="950" b="0">
                <a:solidFill>
                  <a:srgbClr val="4B4A78"/>
                </a:solidFill>
              </a:rPr>
              <a:t>Block Kit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96000" y="3000000"/>
            <a:ext cx="1800000" cy="1400000"/>
          </a:xfrm>
          <a:prstGeom prst="roundRect">
            <a:avLst>
              <a:gd name="adj" fmla="val 4000"/>
            </a:avLst>
          </a:prstGeom>
          <a:solidFill>
            <a:srgbClr val="E8E8F0"/>
          </a:solidFill>
          <a:ln w="19050">
            <a:solidFill>
              <a:srgbClr val="4B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000" bIns="36000" rtlCol="0" anchor="ctr"/>
          <a:lstStyle/>
          <a:p>
            <a:pPr algn="ctr"/>
            <a:r>
              <a:rPr sz="1300" b="1">
                <a:solidFill>
                  <a:srgbClr val="4B4A78"/>
                </a:solidFill>
              </a:rPr>
              <a:t>Teams Adapter</a:t>
            </a:r>
          </a:p>
          <a:p>
            <a:pPr algn="ctr"/>
            <a:r>
              <a:rPr sz="950" b="0">
                <a:solidFill>
                  <a:srgbClr val="4B4A78"/>
                </a:solidFill>
              </a:rPr>
              <a:t>Agents SDK</a:t>
            </a:r>
          </a:p>
          <a:p>
            <a:pPr algn="ctr"/>
            <a:r>
              <a:rPr sz="950" b="0">
                <a:solidFill>
                  <a:srgbClr val="4B4A78"/>
                </a:solidFill>
              </a:rPr>
              <a:t>Activity handlers</a:t>
            </a:r>
          </a:p>
          <a:p>
            <a:pPr algn="ctr"/>
            <a:r>
              <a:rPr sz="950" b="0">
                <a:solidFill>
                  <a:srgbClr val="4B4A78"/>
                </a:solidFill>
              </a:rPr>
              <a:t>Adaptive Cards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000" y="3200000"/>
            <a:ext cx="1500000" cy="1000000"/>
          </a:xfrm>
          <a:prstGeom prst="roundRect">
            <a:avLst>
              <a:gd name="adj" fmla="val 4000"/>
            </a:avLst>
          </a:prstGeom>
          <a:solidFill>
            <a:srgbClr val="4B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000" bIns="3600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Slack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WebSocket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Socket Mode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46000" y="3200000"/>
            <a:ext cx="1500000" cy="1000000"/>
          </a:xfrm>
          <a:prstGeom prst="roundRect">
            <a:avLst>
              <a:gd name="adj" fmla="val 4000"/>
            </a:avLst>
          </a:prstGeom>
          <a:solidFill>
            <a:srgbClr val="4B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36000" bIns="3600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Microsoft Teams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HTTPS</a:t>
            </a:r>
          </a:p>
          <a:p>
            <a:pPr algn="ctr"/>
            <a:r>
              <a:rPr sz="950" b="0">
                <a:solidFill>
                  <a:srgbClr val="FFFFFF"/>
                </a:solidFill>
              </a:rPr>
              <a:t>Bot Framework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46000" y="3550000"/>
            <a:ext cx="35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396000" y="3550000"/>
            <a:ext cx="40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396000" y="3850000"/>
            <a:ext cx="40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246000" y="3850000"/>
            <a:ext cx="35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96000" y="3550000"/>
            <a:ext cx="35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396000" y="3550000"/>
            <a:ext cx="40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96000" y="3850000"/>
            <a:ext cx="40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96000" y="3850000"/>
            <a:ext cx="350000" cy="0"/>
          </a:xfrm>
          <a:prstGeom prst="line">
            <a:avLst/>
          </a:prstGeom>
          <a:ln w="25400">
            <a:solidFill>
              <a:srgbClr val="4B4A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21000" y="2420000"/>
            <a:ext cx="1400000" cy="2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i="1">
                <a:solidFill>
                  <a:srgbClr val="7A7A7A"/>
                </a:solidFill>
              </a:rPr>
              <a:t>Events / Messages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96000" y="2420000"/>
            <a:ext cx="1400000" cy="2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i="1">
                <a:solidFill>
                  <a:srgbClr val="7A7A7A"/>
                </a:solidFill>
              </a:rPr>
              <a:t>Normalized Calls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71000" y="2420000"/>
            <a:ext cx="1400000" cy="2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i="1">
                <a:solidFill>
                  <a:srgbClr val="7A7A7A"/>
                </a:solidFill>
              </a:rPr>
              <a:t>Activities / Messages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96000" y="2420000"/>
            <a:ext cx="1400000" cy="22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i="1">
                <a:solidFill>
                  <a:srgbClr val="7A7A7A"/>
                </a:solidFill>
              </a:rPr>
              <a:t>Normalized Calls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6455664"/>
            <a:ext cx="6035040" cy="1280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7A7A7A"/>
                </a:solidFill>
              </a:rPr>
              <a:t>Slack to Teams migration guide • architecture diagram 4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1262</TotalTime>
  <Words>369</Words>
  <Application>Microsoft Office PowerPoint</Application>
  <PresentationFormat>Widescreen</PresentationFormat>
  <Paragraphs>90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Segoe UI</vt:lpstr>
      <vt:lpstr>Segoe UI Symbol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Slack to Teams Migration Architecture</dc:title>
  <dc:subject>Themed architecture diagrams</dc:subject>
  <dc:creator>OpenAI</dc:creator>
  <cp:lastModifiedBy>Steven Ickman</cp:lastModifiedBy>
  <cp:revision>5</cp:revision>
  <dcterms:created xsi:type="dcterms:W3CDTF">2026-03-31T21:55:05Z</dcterms:created>
  <dcterms:modified xsi:type="dcterms:W3CDTF">2026-04-01T20:44:10Z</dcterms:modified>
</cp:coreProperties>
</file>